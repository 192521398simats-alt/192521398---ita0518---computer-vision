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4109"/>
            <a:ext cx="276225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697509"/>
            <a:ext cx="5662426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 dirty="0">
                <a:solidFill>
                  <a:srgbClr val="F8FAFC"/>
                </a:solidFill>
                <a:latin typeface="Plus Jakarta Sans"/>
              </a:rPr>
              <a:t>Impact of AI on</a:t>
            </a:r>
            <a:r>
              <a:rPr dirty="0"/>
              <a:t>
</a:t>
            </a:r>
            <a:r>
              <a:rPr sz="3900" b="1" i="0" u="none" dirty="0">
                <a:solidFill>
                  <a:srgbClr val="F8FAFC"/>
                </a:solidFill>
                <a:latin typeface="Plus Jakarta Sans"/>
              </a:rPr>
              <a:t>Modern Vision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989040"/>
            <a:ext cx="857250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A comprehensive analysis of deep neural architectures, benchmark performance, industrial case studies, and modern deployment paradigms.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2249834"/>
            <a:ext cx="152400" cy="133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092A8F-14F4-B5F1-E1B8-70A9EC01DEC7}"/>
              </a:ext>
            </a:extLst>
          </p:cNvPr>
          <p:cNvSpPr txBox="1"/>
          <p:nvPr/>
        </p:nvSpPr>
        <p:spPr>
          <a:xfrm>
            <a:off x="571500" y="5203149"/>
            <a:ext cx="1986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PRESENTED BY :</a:t>
            </a:r>
          </a:p>
          <a:p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DHARSHINI S</a:t>
            </a:r>
            <a:endParaRPr lang="en-IN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136"/>
            <a:ext cx="5334000" cy="36182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09135"/>
            <a:ext cx="5334000" cy="36182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31608" y="1984331"/>
            <a:ext cx="494061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2563EB"/>
                </a:solidFill>
                <a:latin typeface="Plus Jakarta Sans SemiBold"/>
              </a:rPr>
              <a:t>Traditional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2608629"/>
            <a:ext cx="470535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i="0" u="none" dirty="0">
                <a:solidFill>
                  <a:srgbClr val="334155"/>
                </a:solidFill>
                <a:latin typeface="Inter"/>
              </a:rPr>
              <a:t>Hand-Crafted Features: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Relies on manual algorithms like SIFT, SURF, and Canny Edge detection.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31901"/>
            <a:ext cx="470535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i="0" u="none" dirty="0">
                <a:solidFill>
                  <a:srgbClr val="334155"/>
                </a:solidFill>
                <a:latin typeface="Inter"/>
              </a:rPr>
              <a:t>Brittle Heuristics: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Highly sensitive to lighting variation, occlusions, and background clutter.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4240410"/>
            <a:ext cx="470535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i="0" u="none" dirty="0">
                <a:solidFill>
                  <a:srgbClr val="334155"/>
                </a:solidFill>
                <a:latin typeface="Inter"/>
              </a:rPr>
              <a:t>Domain Specificity: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Requires custom engineering for every isolated visual task.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2333" y="1984331"/>
            <a:ext cx="494061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2563EB"/>
                </a:solidFill>
                <a:latin typeface="Plus Jakarta Sans SemiBold"/>
              </a:rPr>
              <a:t>AI-Powered Vision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2588563"/>
            <a:ext cx="470535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i="0" u="none" dirty="0">
                <a:solidFill>
                  <a:srgbClr val="334155"/>
                </a:solidFill>
                <a:latin typeface="Inter"/>
              </a:rPr>
              <a:t>End-to-End Feature Learning: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Automatically extracts hierarchical visual representations directly from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3525049"/>
            <a:ext cx="470535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i="0" u="none" dirty="0">
                <a:solidFill>
                  <a:srgbClr val="334155"/>
                </a:solidFill>
                <a:latin typeface="Inter"/>
              </a:rPr>
              <a:t>Robust Generalization: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Handles non-linear transformations, complex noise, and real-world variance.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4612683"/>
            <a:ext cx="470535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i="0" u="none" dirty="0">
                <a:solidFill>
                  <a:srgbClr val="334155"/>
                </a:solidFill>
                <a:latin typeface="Inter"/>
              </a:rPr>
              <a:t>Transfer Learning: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Pre-trained backbones easily fine-tune for niche visual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927870"/>
            <a:ext cx="116014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>
                <a:solidFill>
                  <a:srgbClr val="0F172A"/>
                </a:solidFill>
                <a:latin typeface="Plus Jakarta Sans"/>
              </a:rPr>
              <a:t>Rule-Based CV vs Deep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36465"/>
            <a:ext cx="3530649" cy="26592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30810"/>
            <a:ext cx="3530649" cy="26592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36465"/>
            <a:ext cx="3530649" cy="26592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712690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244334"/>
            <a:ext cx="320711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0F172A"/>
                </a:solidFill>
                <a:latin typeface="Plus Jakarta Sans SemiBold"/>
              </a:rPr>
              <a:t>CNNs (</a:t>
            </a:r>
            <a:r>
              <a:rPr sz="2400" b="0" i="0" u="none" dirty="0" err="1">
                <a:solidFill>
                  <a:srgbClr val="0F172A"/>
                </a:solidFill>
                <a:latin typeface="Plus Jakarta Sans SemiBold"/>
              </a:rPr>
              <a:t>ResNet</a:t>
            </a:r>
            <a:r>
              <a:rPr sz="2400" b="0" i="0" u="none" dirty="0">
                <a:solidFill>
                  <a:srgbClr val="0F172A"/>
                </a:solidFill>
                <a:latin typeface="Plus Jakarta Sans SemiBold"/>
              </a:rPr>
              <a:t>, </a:t>
            </a:r>
            <a:r>
              <a:rPr sz="2400" b="0" i="0" u="none" dirty="0" err="1">
                <a:solidFill>
                  <a:srgbClr val="0F172A"/>
                </a:solidFill>
                <a:latin typeface="Plus Jakarta Sans SemiBold"/>
              </a:rPr>
              <a:t>ConvNeXt</a:t>
            </a:r>
            <a:r>
              <a:rPr sz="2400" b="0" i="0" u="none" dirty="0">
                <a:solidFill>
                  <a:srgbClr val="0F172A"/>
                </a:solidFill>
                <a:latin typeface="Plus Jakarta Sans SemiBold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760440"/>
            <a:ext cx="3054399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i="0" u="none" dirty="0">
                <a:solidFill>
                  <a:srgbClr val="334155"/>
                </a:solidFill>
                <a:latin typeface="Inter"/>
              </a:rPr>
              <a:t>Preserves spatial inductive bias via localized sliding kernel convolutions. Highly efficient for spatial pixel hierarchies.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712690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213824"/>
            <a:ext cx="320711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0F172A"/>
                </a:solidFill>
                <a:latin typeface="Plus Jakarta Sans SemiBold"/>
              </a:rPr>
              <a:t>Vision Transformers (</a:t>
            </a:r>
            <a:r>
              <a:rPr sz="2400" b="0" i="0" u="none" dirty="0" err="1">
                <a:solidFill>
                  <a:srgbClr val="0F172A"/>
                </a:solidFill>
                <a:latin typeface="Plus Jakarta Sans SemiBold"/>
              </a:rPr>
              <a:t>ViT</a:t>
            </a:r>
            <a:r>
              <a:rPr sz="2400" b="0" i="0" u="none" dirty="0">
                <a:solidFill>
                  <a:srgbClr val="0F172A"/>
                </a:solidFill>
                <a:latin typeface="Plus Jakarta Sans SemiBold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760440"/>
            <a:ext cx="3054399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i="0" u="none" dirty="0">
                <a:solidFill>
                  <a:srgbClr val="334155"/>
                </a:solidFill>
                <a:latin typeface="Inter"/>
              </a:rPr>
              <a:t>Leverages self-attention mechanisms across patch tokens to model long-range global contextual dependencies.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712690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244334"/>
            <a:ext cx="320711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0F172A"/>
                </a:solidFill>
                <a:latin typeface="Plus Jakarta Sans SemiBold"/>
              </a:rPr>
              <a:t>Vision-Language (CLIP)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760440"/>
            <a:ext cx="3054399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i="0" u="none" dirty="0">
                <a:solidFill>
                  <a:srgbClr val="334155"/>
                </a:solidFill>
                <a:latin typeface="Inter"/>
              </a:rPr>
              <a:t>Aligns visual embeddings with text spaces enabling zero-shot detection and open-vocabulary segmentation.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162" y="2836515"/>
            <a:ext cx="2762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9362" y="2836515"/>
            <a:ext cx="3143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8611" y="2836515"/>
            <a:ext cx="3143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Core Neural Architectures in CV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3053298"/>
            <a:ext cx="1160145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400" b="1" dirty="0">
                <a:solidFill>
                  <a:srgbClr val="F8FAFC"/>
                </a:solidFill>
                <a:latin typeface="Plus Jakarta Sans"/>
              </a:rPr>
              <a:t>THANK YOU</a:t>
            </a:r>
            <a:endParaRPr sz="5400" b="1" i="0" u="none" dirty="0">
              <a:solidFill>
                <a:srgbClr val="F8FAFC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192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Cambria Math</vt:lpstr>
      <vt:lpstr>Inter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DHARSHINI SURESH</cp:lastModifiedBy>
  <cp:revision>2</cp:revision>
  <dcterms:created xsi:type="dcterms:W3CDTF">2013-01-27T09:14:16Z</dcterms:created>
  <dcterms:modified xsi:type="dcterms:W3CDTF">2026-08-02T15:42:56Z</dcterms:modified>
  <cp:category/>
</cp:coreProperties>
</file>